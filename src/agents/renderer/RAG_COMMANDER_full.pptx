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g_1762148302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g_1762148302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g_1762148304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g_1762148304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g_1762148304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g_1762148304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g_1762148305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pg_1762148305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g_1762148306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pg_1762148306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g_1762148307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pg_1762148307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g_1762148308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pg_1762148308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g_1762148309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pg_1762148309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g_1762148310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pg_1762148310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g_17621483109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pg_1762148310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g_1762148312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pg_1762148312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g_1762148312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pg_1762148312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1016000" y="762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Executive Summary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016000" y="1778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 BLUF: 본 사업지(서울 강남구 역삼동, 전용 84㎡ 120세대)의 권장 분양가 레인지는 3.3㎡당 1,370~1,430만원(총액 약 34.5~36.0억)으로 판단한다. 근거는 1km 내 유사 연식·평형 실거래 평단 1,370~1,420만원/3.3㎡(2023.07~2024.06)와 2km 내 최근 분양가 1,390~1,460만원/3.3㎡(2022.07~2023.09)의 교차 비교 결과이다.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 상단 적용(1,430만원/3.3㎡)은 ‘역세권(도보 7~10분 이내)+학세권(대치·역삼 학군 생활권 인접)+브랜드’ 3요건을 충족하고, 금융조건(계약금 10%, 중도금 일부 또는 무이자)을 동반할 때 타당하다. 반대로 3요건 미충족 시 하단(1,370만원/3.3㎡) 또는 그 이하 보수적 책정이 필요하다.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 강남구는 최근 5년 미분양 ‘0’(2017.08~2025.08, 2019.05 예외 20호 1개월 내 해소)로 분양 실패 리스크가 구조적으로 낮다(국토교통부 통계누리(국가승인통계)). 다만 가격이 인근 매매 상단을 10% 이상 초과(≈1,500만원/3.3㎡ 이상) 시 단기 미계약 위험이 커진다.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 핵심 리스크: (1) 사업지 좌표 기반 입지 데이터(역세권·학세권·생활편의 실보행 거리) 미확보, (2) 2025~2026년 인근 대규모 입주(예: 청담 르엘 1,261세대, 2025.11)로 체감공급 확대, (3) 2025년 9월 누적 강남구 인구 순유출 전환(-477명)로 수요 민감도 상승, (4) 분양가상한제 건축비 고시·심의 변동, (5) 금리/유동성 변동성 재확대 가능성.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 정책·정비 사이클(신속통합기획 시즌2, 용적률 인센티브 확대 등, 2024~2025)은 중장기 가치에는 우호적이나, 단기에는 ‘공급 뉴스 플로우’로 가격 눈높이가 높아지는 양면성이 존재한다(출처: 국토교통부·서울시 보도자료·고시).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016000" y="762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입지분석: 교육·교통·편의·자연·미래가치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1016000" y="1778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1016000" y="762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입지·호재 세부 보완(제도·공급 캘린더·품질)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1016000" y="1778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1016000" y="762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수요타겟 분석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1016000" y="1778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1016000" y="762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인근 매매·분양 비교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1016000" y="1778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1016000" y="762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1~2km 유사 연식·평형 매매 비교(3.3㎡ 단가)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9"/>
          <p:cNvSpPr txBox="1"/>
          <p:nvPr/>
        </p:nvSpPr>
        <p:spPr>
          <a:xfrm>
            <a:off x="1016000" y="1778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/>
        </p:nvSpPr>
        <p:spPr>
          <a:xfrm>
            <a:off x="1016000" y="762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최근 2년 인근 분양가/청약·계약조건 비교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1016000" y="1778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/>
        </p:nvSpPr>
        <p:spPr>
          <a:xfrm>
            <a:off x="1016000" y="762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SWOT 분석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21"/>
          <p:cNvSpPr txBox="1"/>
          <p:nvPr/>
        </p:nvSpPr>
        <p:spPr>
          <a:xfrm>
            <a:off x="1016000" y="1778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1016000" y="762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최종 분양성 평가·가격 산정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" name="Google Shape;109;p22"/>
          <p:cNvSpPr txBox="1"/>
          <p:nvPr/>
        </p:nvSpPr>
        <p:spPr>
          <a:xfrm>
            <a:off x="1016000" y="1778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/>
        </p:nvSpPr>
        <p:spPr>
          <a:xfrm>
            <a:off x="1016000" y="762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데이터 한계 및 보완 계획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/>
        </p:nvSpPr>
        <p:spPr>
          <a:xfrm>
            <a:off x="1016000" y="1778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/>
        </p:nvSpPr>
        <p:spPr>
          <a:xfrm>
            <a:off x="1016000" y="762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출처 정리(요약)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24"/>
          <p:cNvSpPr txBox="1"/>
          <p:nvPr/>
        </p:nvSpPr>
        <p:spPr>
          <a:xfrm>
            <a:off x="1016000" y="1778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/>
        </p:nvSpPr>
        <p:spPr>
          <a:xfrm>
            <a:off x="1016000" y="7620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용어 설명(요약)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7" name="Google Shape;127;p25"/>
          <p:cNvSpPr txBox="1"/>
          <p:nvPr/>
        </p:nvSpPr>
        <p:spPr>
          <a:xfrm>
            <a:off x="1016000" y="1778000"/>
            <a:ext cx="12699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