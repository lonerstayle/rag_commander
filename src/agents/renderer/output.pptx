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>
                <a:solidFill>
                  <a:srgbClr val="000000"/>
                </a:solidFill>
                <a:latin typeface="Noto Sans CJK KR"/>
              </a:defRPr>
            </a:pPr>
            <a:r>
              <a:t>1. 사업환경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>
                <a:solidFill>
                  <a:srgbClr val="D1B875"/>
                </a:solidFill>
                <a:latin typeface="Noto Sans CJK KR"/>
              </a:defRPr>
            </a:pPr>
            <a:r>
              <a:t>교통·교육·편의 3요건 검증 필요, 정책 호재는 중장기 우호적이나 단기 공급 확대로 가격 민감도 상승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000000"/>
                </a:solidFill>
                <a:latin typeface="Noto Sans CJK KR"/>
              </a:defRPr>
            </a:pPr>
            <a:r>
              <a:t>교육 인구(강남구, 2025.09)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79"/>
            <a:ext cx="3840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10~19세 64,171명(2025.04~09 +597명, +0.9%)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0~9세 32,142명(동기 -628명, -1.9%)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중·고 학령층 유지로 학군 선호형 수요 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1031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000000"/>
                </a:solidFill>
                <a:latin typeface="Noto Sans CJK KR"/>
              </a:defRPr>
            </a:pPr>
            <a:r>
              <a:t>교통·생활편의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468879"/>
            <a:ext cx="3840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최근접 지하철역(2·9·수인분당선) 실보행 미확인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도보 7~10분 역세권 확보 시 상단가 정당화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12분 이상 시 설득력 약화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000000"/>
                </a:solidFill>
                <a:latin typeface="Noto Sans CJK KR"/>
              </a:defRPr>
            </a:pPr>
            <a:r>
              <a:t>인근 입주 예정(2025~2026)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3840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청담 르엘 1,261세대(2025.11)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디에이치 대치 에델루이 282세대(2025.08)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래미안 레벤투스 308세대(2026.10)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단기 대체재 확대로 초기 분양 속도 둔화 가능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2062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000000"/>
                </a:solidFill>
                <a:latin typeface="Noto Sans CJK KR"/>
              </a:defRPr>
            </a:pPr>
            <a:r>
              <a:t>정책·정비 호재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572000"/>
            <a:ext cx="3840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신속통합기획 시즌2(서울시)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용적률 인센티브 확대(국토교통부/서울시)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중장기 가치 상향, 단기 가격 저항선 상승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>
                <a:solidFill>
                  <a:srgbClr val="000000"/>
                </a:solidFill>
                <a:latin typeface="Noto Sans CJK KR"/>
              </a:defRPr>
            </a:pPr>
            <a:r>
              <a:t>2. 수요타겟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>
                <a:solidFill>
                  <a:srgbClr val="D1B875"/>
                </a:solidFill>
                <a:latin typeface="Noto Sans CJK KR"/>
              </a:defRPr>
            </a:pPr>
            <a:r>
              <a:t>직주근접+학군 실수요 축 견조, 2025년 순유출 전환으로 속도 민감형 시장 진입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000000"/>
                </a:solidFill>
                <a:latin typeface="Noto Sans CJK KR"/>
              </a:defRPr>
            </a:pPr>
            <a:r>
              <a:t>인구구조(강남구, 2025.09)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79"/>
            <a:ext cx="3840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40~49세 100,172명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30~39세 80,843명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10~19세 64,171명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가족형 수요 저변 견조, 84㎡ 방3+학습공간 선호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1031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000000"/>
                </a:solidFill>
                <a:latin typeface="Noto Sans CJK KR"/>
              </a:defRPr>
            </a:pPr>
            <a:r>
              <a:t>순이동·거래 동향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468879"/>
            <a:ext cx="3840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2024 순유입 +5,762명 → 2025.1~9 순유출 -477명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거래량 197(2024.01) → 742(2025.07)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매매수급지수 101.12(동남권, 2024.10)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속도 민감형 시장, 초기 흡수력 관리 필요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000000"/>
                </a:solidFill>
                <a:latin typeface="Noto Sans CJK KR"/>
              </a:defRPr>
            </a:pPr>
            <a:r>
              <a:t>금리·조달 환경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3840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기준금리 3.5%→2.5%(2024.01→2025.10)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주담대 3.99%→3.96%(2024.01→2025.08)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체감 부담 완화, 중도금 무이자 조건 효과적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2062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000000"/>
                </a:solidFill>
                <a:latin typeface="Noto Sans CJK KR"/>
              </a:defRPr>
            </a:pPr>
            <a:r>
              <a:t>미분양·전세/매매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572000"/>
            <a:ext cx="3840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미분양 0(2017.08~2025.08, 2019.05 예외 1개월 내 해소)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전세/매매 비율 약 37%(2025.09)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자기자본 기반 실수요 비중 높음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>
                <a:solidFill>
                  <a:srgbClr val="000000"/>
                </a:solidFill>
                <a:latin typeface="Noto Sans CJK KR"/>
              </a:defRPr>
            </a:pPr>
            <a:r>
              <a:t>3. 인근 매매·분양 비교 / SWOT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>
                <a:solidFill>
                  <a:srgbClr val="D1B875"/>
                </a:solidFill>
                <a:latin typeface="Noto Sans CJK KR"/>
              </a:defRPr>
            </a:pPr>
            <a:r>
              <a:t>권장 밴드 1,370~1,430만원/3.3㎡, 인근 매매·분양 대비 ±10% 룰 내 포지셔닝 필수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000000"/>
                </a:solidFill>
                <a:latin typeface="Noto Sans CJK KR"/>
              </a:defRPr>
            </a:pPr>
            <a:r>
              <a:t>1~2km 매매 비교(2023.07~2024.06, 84㎡)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79"/>
            <a:ext cx="3840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래미안라클래시(역삼동, 2020) 36.5억 → 1,430만원/3.3㎡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역삼자이(역삼동, 2021) 35.2억 → 1,380만원/3.3㎡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대치푸르지오써밋(대치동, 2019) 36.0억 → 1,420만원/3.3㎡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중위권 범위 1,370~1,420만원/3.3㎡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1031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000000"/>
                </a:solidFill>
                <a:latin typeface="Noto Sans CJK KR"/>
              </a:defRPr>
            </a:pPr>
            <a:r>
              <a:t>최근 2년 인근 분양가(2022.07~2023.09, 84㎡)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468879"/>
            <a:ext cx="3840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래미안 원베일리(서초구) 평균 1,460만원/3.3㎡, 1순위 20:1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디에이치자이 개포(강남구) 평균 1,390만원/3.3㎡, 1순위 18:1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르엘 신반포 센트럴(서초구) 평균 1,430만원/3.3㎡, 1순위 12:1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요약 범위 1,390~1,460만원/3.3㎡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000000"/>
                </a:solidFill>
                <a:latin typeface="Noto Sans CJK KR"/>
              </a:defRPr>
            </a:pPr>
            <a:r>
              <a:t>SWOT 요약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3840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강점: 테헤란로 직주근접, 미분양 0 구조, 거래량 회복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약점: 좌표 기반 실보행 데이터 미확보, 2025년 순유출 전환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기회: 금리 하락, 정비 가속으로 중장기 가치 상향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위협: 2025~2026 입주피크, 상한제 심사·품질 민감도 상승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2062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000000"/>
                </a:solidFill>
                <a:latin typeface="Noto Sans CJK KR"/>
              </a:defRPr>
            </a:pPr>
            <a:r>
              <a:t>보정 가이드(대상지 대비)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572000"/>
            <a:ext cx="3840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역세권 7~10분·학군·브랜드 우위: +3~5%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역세권 12분+·소음·조망 열위: -2~5%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1,500만원/3.3㎡ 이상은 미계약 리스크 구간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>
                <a:solidFill>
                  <a:srgbClr val="000000"/>
                </a:solidFill>
                <a:latin typeface="Noto Sans CJK KR"/>
              </a:defRPr>
            </a:pPr>
            <a:r>
              <a:t>4. 최종 분양성 평가 및 산정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>
                <a:solidFill>
                  <a:srgbClr val="D1B875"/>
                </a:solidFill>
                <a:latin typeface="Noto Sans CJK KR"/>
              </a:defRPr>
            </a:pPr>
            <a:r>
              <a:t>권장 분양가 1,370~1,430만원/3.3㎡(총액 34.5~36.0억), 역세권·학군·브랜드 3요건 충족 시 분양성 양호~우수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000000"/>
                </a:solidFill>
                <a:latin typeface="Noto Sans CJK KR"/>
              </a:defRPr>
            </a:pPr>
            <a:r>
              <a:t>권장 가격 레인지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79"/>
            <a:ext cx="3840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권장 밴드: 1,370~1,430만원/3.3㎡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권장 중심가: 1,410만원/3.3㎡(총액 약 35.5억)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상단(1,430): 역세권 7~10분·학군·브랜드 우위 + 계약금 10%·중도금 무이자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하단(1,370): 역세권 12분+·대로변 노출·브랜드 열위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1031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000000"/>
                </a:solidFill>
                <a:latin typeface="Noto Sans CJK KR"/>
              </a:defRPr>
            </a:pPr>
            <a:r>
              <a:t>핵심 리스크 및 완화책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468879"/>
            <a:ext cx="3840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좌표 기반 입지데이터 미확보 → 실보행·소음·POI 공개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2025~2026 입주피크 → 선분양 일정 조정, 초기 옵션 상향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순유출 전환 → 가점형·추첨형 이원 타게팅, 맞춤 금융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상한제 심사 리스크 → 비교사업장 정합성 확보, 스펙 합리화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000000"/>
                </a:solidFill>
                <a:latin typeface="Noto Sans CJK KR"/>
              </a:defRPr>
            </a:pPr>
            <a:r>
              <a:t>실행 전략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3840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가격: 1,410만원/3.3㎡ 중심, 동·호수·층·향 보정 ±1~2%p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조건: 계약금 10%, 중도금 일부 또는 무이자, 잔금대출 협약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마케팅: 테헤란로 실보행 지도, 중·고 학군 동선 데이터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물량운영: 가점형 방3+수납 패키징, 추첨형 조망·역세권 동 집중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2062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000000"/>
                </a:solidFill>
                <a:latin typeface="Noto Sans CJK KR"/>
              </a:defRPr>
            </a:pPr>
            <a:r>
              <a:t>데이터 보완 계획(2~4주 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572000"/>
            <a:ext cx="3840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좌표·동선 실측: 역 출구별 실보행, 통학로 안전, 소음·미세먼지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POI 크롤링: 1km/2km 상권·의료·교육·공공, 야간 안전지수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청약 경쟁률·수요조사: 표본 n≥500 설문, 회귀모델 예측</a:t>
            </a:r>
          </a:p>
          <a:p>
            <a:pPr>
              <a:defRPr sz="1100">
                <a:solidFill>
                  <a:srgbClr val="000000"/>
                </a:solidFill>
                <a:latin typeface="Noto Sans CJK KR"/>
              </a:defRPr>
            </a:pPr>
            <a:r>
              <a:t>• 결과 공개: 분·ｍ·지도·사진·영상, 청약자 안내서 삽입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